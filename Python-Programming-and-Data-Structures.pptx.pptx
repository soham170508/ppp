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ource Serif Pro Bold" charset="1" panose="02040803050405020204"/>
      <p:regular r:id="rId19"/>
    </p:embeddedFont>
    <p:embeddedFont>
      <p:font typeface="Source Sans 3" charset="1" panose="020B0303030403020204"/>
      <p:regular r:id="rId20"/>
    </p:embeddedFont>
    <p:embeddedFont>
      <p:font typeface="Consolas Bold" charset="1" panose="020B0709020204030204"/>
      <p:regular r:id="rId25"/>
    </p:embeddedFont>
    <p:embeddedFont>
      <p:font typeface="Consolas" charset="1" panose="020B0609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https://gamma.app/?utm_source=made-with-gamma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3266" y="254071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05159" y="3373041"/>
            <a:ext cx="9335691" cy="177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Python Programming &amp; Data Structures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05159" y="5505602"/>
            <a:ext cx="9335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the Basics to Advanced Algorithms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5159" y="6320876"/>
            <a:ext cx="933569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by: Soham Joshi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46394" y="714966"/>
            <a:ext cx="11724084" cy="82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Unveiling Python: The Core Principles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6394" y="2195665"/>
            <a:ext cx="3470224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Python: A Powerhouse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394" y="2806598"/>
            <a:ext cx="7867802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Simple &amp; Elegant:</a:t>
            </a:r>
            <a:r>
              <a:rPr lang="en-US" sz="21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Easy to read and write, focusing on developer productivity.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6394" y="3766395"/>
            <a:ext cx="7867802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Interpreted Language:</a:t>
            </a:r>
            <a:r>
              <a:rPr lang="en-US" sz="21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Code executes line by line, simplifying debugging.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6394" y="4726191"/>
            <a:ext cx="7867802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Dynamically Typed:</a:t>
            </a:r>
            <a:r>
              <a:rPr lang="en-US" sz="21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No need to declare variable types explicitly; Python handles 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6394" y="5685977"/>
            <a:ext cx="7867802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Platform Independent:</a:t>
            </a:r>
            <a:r>
              <a:rPr lang="en-US" sz="21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Write once, run anywhere – on Windows, macOS, Linux, and more.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12696" y="2248491"/>
            <a:ext cx="7438434" cy="7438434"/>
          </a:xfrm>
          <a:custGeom>
            <a:avLst/>
            <a:gdLst/>
            <a:ahLst/>
            <a:cxnLst/>
            <a:rect r="r" b="b" t="t" l="l"/>
            <a:pathLst>
              <a:path h="7438434" w="7438434">
                <a:moveTo>
                  <a:pt x="0" y="0"/>
                </a:moveTo>
                <a:lnTo>
                  <a:pt x="7438435" y="0"/>
                </a:lnTo>
                <a:lnTo>
                  <a:pt x="7438435" y="7438434"/>
                </a:lnTo>
                <a:lnTo>
                  <a:pt x="0" y="743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61464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46394" y="714966"/>
            <a:ext cx="14110545" cy="82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Building Blocks: Syntax, Variables &amp; Structure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06923" y="1811202"/>
            <a:ext cx="5177496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Fundamental Concepts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6099" y="2700481"/>
            <a:ext cx="9967385" cy="98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5865" indent="-192932" lvl="1">
              <a:lnSpc>
                <a:spcPts val="4063"/>
              </a:lnSpc>
              <a:buFont typeface="Arial"/>
              <a:buChar char="•"/>
            </a:pPr>
            <a:r>
              <a:rPr lang="en-US" sz="2558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Identifiers &amp; Keywords:</a:t>
            </a:r>
            <a:r>
              <a:rPr lang="en-US" sz="2558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Case-sensitive naming rules and reserved words like def, class, if.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06099" y="3879045"/>
            <a:ext cx="9967385" cy="14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5865" indent="-192932" lvl="1">
              <a:lnSpc>
                <a:spcPts val="4063"/>
              </a:lnSpc>
              <a:buFont typeface="Arial"/>
              <a:buChar char="•"/>
            </a:pPr>
            <a:r>
              <a:rPr lang="en-US" sz="2558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Variables &amp; Constants:</a:t>
            </a:r>
            <a:r>
              <a:rPr lang="en-US" sz="2558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Variables are created upon assignment. Constants are typically defined using UPPERCASE convention for readability.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142" y="5333400"/>
            <a:ext cx="376105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Code Organisation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16617" y="5925293"/>
            <a:ext cx="9333425" cy="112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175" indent="-190088" lvl="1">
              <a:lnSpc>
                <a:spcPts val="4003"/>
              </a:lnSpc>
              <a:buFont typeface="Arial"/>
              <a:buChar char="•"/>
            </a:pPr>
            <a:r>
              <a:rPr lang="en-US" sz="2520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Indentation:</a:t>
            </a:r>
            <a:r>
              <a:rPr lang="en-US" sz="252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Python strictly enforces indentation to define code blocks, replacing traditional braces {}.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16617" y="7063870"/>
            <a:ext cx="9333425" cy="114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175" indent="-190088" lvl="1">
              <a:lnSpc>
                <a:spcPts val="4003"/>
              </a:lnSpc>
              <a:buFont typeface="Arial"/>
              <a:buChar char="•"/>
            </a:pPr>
            <a:r>
              <a:rPr lang="en-US" sz="2520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Comments:</a:t>
            </a:r>
            <a:r>
              <a:rPr lang="en-US" sz="252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Use # for single-line comments and '''...''' for multi-line documentation strings (Docstrings).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6617" y="8225057"/>
            <a:ext cx="9333425" cy="116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175" indent="-190088" lvl="1">
              <a:lnSpc>
                <a:spcPts val="4003"/>
              </a:lnSpc>
              <a:buFont typeface="Arial"/>
              <a:buChar char="•"/>
            </a:pPr>
            <a:r>
              <a:rPr lang="en-US" sz="2520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Input/Output:</a:t>
            </a:r>
            <a:r>
              <a:rPr lang="en-US" sz="252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Interact with users using input() for data retrieval and print() for displaying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47159" y="817664"/>
            <a:ext cx="9335691" cy="151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Core Data Types: The Essence of Data Handling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159" y="2637977"/>
            <a:ext cx="9335691" cy="48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 offers a rich set of built-in data types to handle various forms of information.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38768" y="3205753"/>
            <a:ext cx="10950581" cy="3173038"/>
            <a:chOff x="0" y="0"/>
            <a:chExt cx="13406321" cy="38846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832" y="6350"/>
              <a:ext cx="13392589" cy="3871976"/>
            </a:xfrm>
            <a:custGeom>
              <a:avLst/>
              <a:gdLst/>
              <a:ahLst/>
              <a:cxnLst/>
              <a:rect r="r" b="b" t="t" l="l"/>
              <a:pathLst>
                <a:path h="3871976" w="13392589">
                  <a:moveTo>
                    <a:pt x="0" y="142494"/>
                  </a:moveTo>
                  <a:cubicBezTo>
                    <a:pt x="0" y="63754"/>
                    <a:pt x="68731" y="0"/>
                    <a:pt x="153586" y="0"/>
                  </a:cubicBezTo>
                  <a:lnTo>
                    <a:pt x="13239003" y="0"/>
                  </a:lnTo>
                  <a:cubicBezTo>
                    <a:pt x="13323858" y="0"/>
                    <a:pt x="13392589" y="63754"/>
                    <a:pt x="13392589" y="142494"/>
                  </a:cubicBezTo>
                  <a:lnTo>
                    <a:pt x="13392589" y="3729482"/>
                  </a:lnTo>
                  <a:cubicBezTo>
                    <a:pt x="13392589" y="3808095"/>
                    <a:pt x="13323858" y="3871976"/>
                    <a:pt x="13239003" y="3871976"/>
                  </a:cubicBezTo>
                  <a:lnTo>
                    <a:pt x="153586" y="3871976"/>
                  </a:lnTo>
                  <a:cubicBezTo>
                    <a:pt x="68731" y="3871976"/>
                    <a:pt x="0" y="3808095"/>
                    <a:pt x="0" y="3729482"/>
                  </a:cubicBezTo>
                  <a:close/>
                </a:path>
              </a:pathLst>
            </a:custGeom>
            <a:solidFill>
              <a:srgbClr val="F0D4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6253" cy="3884676"/>
            </a:xfrm>
            <a:custGeom>
              <a:avLst/>
              <a:gdLst/>
              <a:ahLst/>
              <a:cxnLst/>
              <a:rect r="r" b="b" t="t" l="l"/>
              <a:pathLst>
                <a:path h="3884676" w="13406253">
                  <a:moveTo>
                    <a:pt x="0" y="148844"/>
                  </a:moveTo>
                  <a:cubicBezTo>
                    <a:pt x="0" y="66548"/>
                    <a:pt x="71874" y="0"/>
                    <a:pt x="160418" y="0"/>
                  </a:cubicBezTo>
                  <a:lnTo>
                    <a:pt x="13245835" y="0"/>
                  </a:lnTo>
                  <a:lnTo>
                    <a:pt x="13245835" y="6350"/>
                  </a:lnTo>
                  <a:lnTo>
                    <a:pt x="13245835" y="0"/>
                  </a:lnTo>
                  <a:cubicBezTo>
                    <a:pt x="13334378" y="0"/>
                    <a:pt x="13406253" y="66548"/>
                    <a:pt x="13406253" y="148844"/>
                  </a:cubicBezTo>
                  <a:lnTo>
                    <a:pt x="13399421" y="148844"/>
                  </a:lnTo>
                  <a:lnTo>
                    <a:pt x="13406253" y="148844"/>
                  </a:lnTo>
                  <a:lnTo>
                    <a:pt x="13406253" y="3735832"/>
                  </a:lnTo>
                  <a:lnTo>
                    <a:pt x="13399421" y="3735832"/>
                  </a:lnTo>
                  <a:lnTo>
                    <a:pt x="13406253" y="3735832"/>
                  </a:lnTo>
                  <a:cubicBezTo>
                    <a:pt x="13406253" y="3818001"/>
                    <a:pt x="13334378" y="3884676"/>
                    <a:pt x="13245835" y="3884676"/>
                  </a:cubicBezTo>
                  <a:lnTo>
                    <a:pt x="13245835" y="3878326"/>
                  </a:lnTo>
                  <a:lnTo>
                    <a:pt x="13245835" y="3884676"/>
                  </a:lnTo>
                  <a:lnTo>
                    <a:pt x="160418" y="3884676"/>
                  </a:lnTo>
                  <a:lnTo>
                    <a:pt x="160418" y="3878326"/>
                  </a:lnTo>
                  <a:lnTo>
                    <a:pt x="160418" y="3884676"/>
                  </a:lnTo>
                  <a:cubicBezTo>
                    <a:pt x="71874" y="3884676"/>
                    <a:pt x="0" y="3818001"/>
                    <a:pt x="0" y="3735832"/>
                  </a:cubicBezTo>
                  <a:lnTo>
                    <a:pt x="0" y="148844"/>
                  </a:lnTo>
                  <a:lnTo>
                    <a:pt x="6832" y="148844"/>
                  </a:lnTo>
                  <a:lnTo>
                    <a:pt x="0" y="148844"/>
                  </a:lnTo>
                  <a:moveTo>
                    <a:pt x="13664" y="148844"/>
                  </a:moveTo>
                  <a:lnTo>
                    <a:pt x="13664" y="3735832"/>
                  </a:lnTo>
                  <a:lnTo>
                    <a:pt x="6832" y="3735832"/>
                  </a:lnTo>
                  <a:lnTo>
                    <a:pt x="13664" y="3735832"/>
                  </a:lnTo>
                  <a:cubicBezTo>
                    <a:pt x="13664" y="3811016"/>
                    <a:pt x="79389" y="3871976"/>
                    <a:pt x="160418" y="3871976"/>
                  </a:cubicBezTo>
                  <a:lnTo>
                    <a:pt x="13245835" y="3871976"/>
                  </a:lnTo>
                  <a:cubicBezTo>
                    <a:pt x="13326863" y="3871976"/>
                    <a:pt x="13392589" y="3811016"/>
                    <a:pt x="13392589" y="3735832"/>
                  </a:cubicBezTo>
                  <a:lnTo>
                    <a:pt x="13392589" y="148844"/>
                  </a:lnTo>
                  <a:cubicBezTo>
                    <a:pt x="13392725" y="73660"/>
                    <a:pt x="13327000" y="12700"/>
                    <a:pt x="13245835" y="12700"/>
                  </a:cubicBezTo>
                  <a:lnTo>
                    <a:pt x="160418" y="12700"/>
                  </a:lnTo>
                  <a:lnTo>
                    <a:pt x="160418" y="6350"/>
                  </a:lnTo>
                  <a:lnTo>
                    <a:pt x="160418" y="12700"/>
                  </a:lnTo>
                  <a:cubicBezTo>
                    <a:pt x="79389" y="12700"/>
                    <a:pt x="13664" y="73660"/>
                    <a:pt x="13664" y="148844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969420" y="3498165"/>
            <a:ext cx="893949" cy="830867"/>
            <a:chOff x="0" y="0"/>
            <a:chExt cx="1094423" cy="10171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4368" cy="1017143"/>
            </a:xfrm>
            <a:custGeom>
              <a:avLst/>
              <a:gdLst/>
              <a:ahLst/>
              <a:cxnLst/>
              <a:rect r="r" b="b" t="t" l="l"/>
              <a:pathLst>
                <a:path h="1017143" w="1094368">
                  <a:moveTo>
                    <a:pt x="0" y="508635"/>
                  </a:moveTo>
                  <a:cubicBezTo>
                    <a:pt x="0" y="227711"/>
                    <a:pt x="245000" y="0"/>
                    <a:pt x="547253" y="0"/>
                  </a:cubicBezTo>
                  <a:cubicBezTo>
                    <a:pt x="849505" y="0"/>
                    <a:pt x="1094368" y="227711"/>
                    <a:pt x="1094368" y="508635"/>
                  </a:cubicBezTo>
                  <a:cubicBezTo>
                    <a:pt x="1094368" y="789559"/>
                    <a:pt x="849369" y="1017143"/>
                    <a:pt x="547253" y="1017143"/>
                  </a:cubicBezTo>
                  <a:cubicBezTo>
                    <a:pt x="245136" y="1017143"/>
                    <a:pt x="0" y="789432"/>
                    <a:pt x="0" y="508635"/>
                  </a:cubicBezTo>
                  <a:close/>
                </a:path>
              </a:pathLst>
            </a:custGeom>
            <a:solidFill>
              <a:srgbClr val="BE49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20581" y="3880542"/>
            <a:ext cx="343348" cy="343348"/>
          </a:xfrm>
          <a:custGeom>
            <a:avLst/>
            <a:gdLst/>
            <a:ahLst/>
            <a:cxnLst/>
            <a:rect r="r" b="b" t="t" l="l"/>
            <a:pathLst>
              <a:path h="343348" w="343348">
                <a:moveTo>
                  <a:pt x="0" y="0"/>
                </a:moveTo>
                <a:lnTo>
                  <a:pt x="343347" y="0"/>
                </a:lnTo>
                <a:lnTo>
                  <a:pt x="343347" y="343348"/>
                </a:lnTo>
                <a:lnTo>
                  <a:pt x="0" y="34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108" r="0" b="-810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69420" y="4596348"/>
            <a:ext cx="3506206" cy="39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518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Numeric Types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69420" y="5103139"/>
            <a:ext cx="10321365" cy="83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8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 (integers), float (decimal numbers), and complex numbers for mathematical operations.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638768" y="6645269"/>
            <a:ext cx="10950581" cy="3152291"/>
            <a:chOff x="0" y="0"/>
            <a:chExt cx="13406321" cy="38592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832" y="6350"/>
              <a:ext cx="13392589" cy="3846576"/>
            </a:xfrm>
            <a:custGeom>
              <a:avLst/>
              <a:gdLst/>
              <a:ahLst/>
              <a:cxnLst/>
              <a:rect r="r" b="b" t="t" l="l"/>
              <a:pathLst>
                <a:path h="3846576" w="13392589">
                  <a:moveTo>
                    <a:pt x="0" y="142494"/>
                  </a:moveTo>
                  <a:cubicBezTo>
                    <a:pt x="0" y="63754"/>
                    <a:pt x="68731" y="0"/>
                    <a:pt x="153586" y="0"/>
                  </a:cubicBezTo>
                  <a:lnTo>
                    <a:pt x="13239003" y="0"/>
                  </a:lnTo>
                  <a:cubicBezTo>
                    <a:pt x="13323858" y="0"/>
                    <a:pt x="13392589" y="63754"/>
                    <a:pt x="13392589" y="142494"/>
                  </a:cubicBezTo>
                  <a:lnTo>
                    <a:pt x="13392589" y="3704082"/>
                  </a:lnTo>
                  <a:cubicBezTo>
                    <a:pt x="13392589" y="3782695"/>
                    <a:pt x="13323858" y="3846576"/>
                    <a:pt x="13239003" y="3846576"/>
                  </a:cubicBezTo>
                  <a:lnTo>
                    <a:pt x="153586" y="3846576"/>
                  </a:lnTo>
                  <a:cubicBezTo>
                    <a:pt x="68731" y="3846576"/>
                    <a:pt x="0" y="3782695"/>
                    <a:pt x="0" y="3704082"/>
                  </a:cubicBezTo>
                  <a:close/>
                </a:path>
              </a:pathLst>
            </a:custGeom>
            <a:solidFill>
              <a:srgbClr val="F0D4F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06253" cy="3859276"/>
            </a:xfrm>
            <a:custGeom>
              <a:avLst/>
              <a:gdLst/>
              <a:ahLst/>
              <a:cxnLst/>
              <a:rect r="r" b="b" t="t" l="l"/>
              <a:pathLst>
                <a:path h="3859276" w="13406253">
                  <a:moveTo>
                    <a:pt x="0" y="148844"/>
                  </a:moveTo>
                  <a:cubicBezTo>
                    <a:pt x="0" y="66548"/>
                    <a:pt x="71874" y="0"/>
                    <a:pt x="160418" y="0"/>
                  </a:cubicBezTo>
                  <a:lnTo>
                    <a:pt x="13245835" y="0"/>
                  </a:lnTo>
                  <a:lnTo>
                    <a:pt x="13245835" y="6350"/>
                  </a:lnTo>
                  <a:lnTo>
                    <a:pt x="13245835" y="0"/>
                  </a:lnTo>
                  <a:cubicBezTo>
                    <a:pt x="13334378" y="0"/>
                    <a:pt x="13406253" y="66548"/>
                    <a:pt x="13406253" y="148844"/>
                  </a:cubicBezTo>
                  <a:lnTo>
                    <a:pt x="13399421" y="148844"/>
                  </a:lnTo>
                  <a:lnTo>
                    <a:pt x="13406253" y="148844"/>
                  </a:lnTo>
                  <a:lnTo>
                    <a:pt x="13406253" y="3710432"/>
                  </a:lnTo>
                  <a:lnTo>
                    <a:pt x="13399421" y="3710432"/>
                  </a:lnTo>
                  <a:lnTo>
                    <a:pt x="13406253" y="3710432"/>
                  </a:lnTo>
                  <a:cubicBezTo>
                    <a:pt x="13406253" y="3792601"/>
                    <a:pt x="13334378" y="3859276"/>
                    <a:pt x="13245835" y="3859276"/>
                  </a:cubicBezTo>
                  <a:lnTo>
                    <a:pt x="13245835" y="3852926"/>
                  </a:lnTo>
                  <a:lnTo>
                    <a:pt x="13245835" y="3859276"/>
                  </a:lnTo>
                  <a:lnTo>
                    <a:pt x="160418" y="3859276"/>
                  </a:lnTo>
                  <a:lnTo>
                    <a:pt x="160418" y="3852926"/>
                  </a:lnTo>
                  <a:lnTo>
                    <a:pt x="160418" y="3859276"/>
                  </a:lnTo>
                  <a:cubicBezTo>
                    <a:pt x="71874" y="3859276"/>
                    <a:pt x="0" y="3792601"/>
                    <a:pt x="0" y="3710432"/>
                  </a:cubicBezTo>
                  <a:lnTo>
                    <a:pt x="0" y="148844"/>
                  </a:lnTo>
                  <a:lnTo>
                    <a:pt x="6832" y="148844"/>
                  </a:lnTo>
                  <a:lnTo>
                    <a:pt x="0" y="148844"/>
                  </a:lnTo>
                  <a:moveTo>
                    <a:pt x="13664" y="148844"/>
                  </a:moveTo>
                  <a:lnTo>
                    <a:pt x="13664" y="3710432"/>
                  </a:lnTo>
                  <a:lnTo>
                    <a:pt x="6832" y="3710432"/>
                  </a:lnTo>
                  <a:lnTo>
                    <a:pt x="13664" y="3710432"/>
                  </a:lnTo>
                  <a:cubicBezTo>
                    <a:pt x="13664" y="3785616"/>
                    <a:pt x="79389" y="3846576"/>
                    <a:pt x="160418" y="3846576"/>
                  </a:cubicBezTo>
                  <a:lnTo>
                    <a:pt x="13245835" y="3846576"/>
                  </a:lnTo>
                  <a:cubicBezTo>
                    <a:pt x="13326863" y="3846576"/>
                    <a:pt x="13392589" y="3785616"/>
                    <a:pt x="13392589" y="3710432"/>
                  </a:cubicBezTo>
                  <a:lnTo>
                    <a:pt x="13392589" y="148844"/>
                  </a:lnTo>
                  <a:cubicBezTo>
                    <a:pt x="13392725" y="73660"/>
                    <a:pt x="13327000" y="12700"/>
                    <a:pt x="13245835" y="12700"/>
                  </a:cubicBezTo>
                  <a:lnTo>
                    <a:pt x="160418" y="12700"/>
                  </a:lnTo>
                  <a:lnTo>
                    <a:pt x="160418" y="6350"/>
                  </a:lnTo>
                  <a:lnTo>
                    <a:pt x="160418" y="12700"/>
                  </a:lnTo>
                  <a:cubicBezTo>
                    <a:pt x="79389" y="12700"/>
                    <a:pt x="13664" y="73660"/>
                    <a:pt x="13664" y="148844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969420" y="6937671"/>
            <a:ext cx="893949" cy="830867"/>
            <a:chOff x="0" y="0"/>
            <a:chExt cx="1094423" cy="10171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4368" cy="1017143"/>
            </a:xfrm>
            <a:custGeom>
              <a:avLst/>
              <a:gdLst/>
              <a:ahLst/>
              <a:cxnLst/>
              <a:rect r="r" b="b" t="t" l="l"/>
              <a:pathLst>
                <a:path h="1017143" w="1094368">
                  <a:moveTo>
                    <a:pt x="0" y="508635"/>
                  </a:moveTo>
                  <a:cubicBezTo>
                    <a:pt x="0" y="227711"/>
                    <a:pt x="245000" y="0"/>
                    <a:pt x="547253" y="0"/>
                  </a:cubicBezTo>
                  <a:cubicBezTo>
                    <a:pt x="849505" y="0"/>
                    <a:pt x="1094368" y="227711"/>
                    <a:pt x="1094368" y="508635"/>
                  </a:cubicBezTo>
                  <a:cubicBezTo>
                    <a:pt x="1094368" y="789559"/>
                    <a:pt x="849369" y="1017143"/>
                    <a:pt x="547253" y="1017143"/>
                  </a:cubicBezTo>
                  <a:cubicBezTo>
                    <a:pt x="245136" y="1017143"/>
                    <a:pt x="0" y="789432"/>
                    <a:pt x="0" y="508635"/>
                  </a:cubicBezTo>
                  <a:close/>
                </a:path>
              </a:pathLst>
            </a:custGeom>
            <a:solidFill>
              <a:srgbClr val="BE49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520581" y="7038680"/>
            <a:ext cx="343348" cy="343348"/>
          </a:xfrm>
          <a:custGeom>
            <a:avLst/>
            <a:gdLst/>
            <a:ahLst/>
            <a:cxnLst/>
            <a:rect r="r" b="b" t="t" l="l"/>
            <a:pathLst>
              <a:path h="343348" w="343348">
                <a:moveTo>
                  <a:pt x="0" y="0"/>
                </a:moveTo>
                <a:lnTo>
                  <a:pt x="343347" y="0"/>
                </a:lnTo>
                <a:lnTo>
                  <a:pt x="343347" y="343347"/>
                </a:lnTo>
                <a:lnTo>
                  <a:pt x="0" y="343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108" r="0" b="-810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969420" y="8035854"/>
            <a:ext cx="3506206" cy="39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518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Strings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47789" y="8542655"/>
            <a:ext cx="10321365" cy="83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8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Immutable sequences of characters, supporting powerful slicing and formatting for text manipulation.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377" y="-107156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4126006" y="574573"/>
            <a:ext cx="10035987" cy="61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Python Collections: Organising Your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354974" y="2620708"/>
            <a:ext cx="9364266" cy="1301801"/>
            <a:chOff x="0" y="0"/>
            <a:chExt cx="12485688" cy="17357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050" y="19050"/>
              <a:ext cx="12447524" cy="1697736"/>
            </a:xfrm>
            <a:custGeom>
              <a:avLst/>
              <a:gdLst/>
              <a:ahLst/>
              <a:cxnLst/>
              <a:rect r="r" b="b" t="t" l="l"/>
              <a:pathLst>
                <a:path h="1697736" w="12447524">
                  <a:moveTo>
                    <a:pt x="0" y="117348"/>
                  </a:moveTo>
                  <a:cubicBezTo>
                    <a:pt x="0" y="52578"/>
                    <a:pt x="53467" y="0"/>
                    <a:pt x="119507" y="0"/>
                  </a:cubicBezTo>
                  <a:lnTo>
                    <a:pt x="12328017" y="0"/>
                  </a:lnTo>
                  <a:cubicBezTo>
                    <a:pt x="12394057" y="0"/>
                    <a:pt x="12447524" y="52451"/>
                    <a:pt x="12447524" y="117348"/>
                  </a:cubicBezTo>
                  <a:lnTo>
                    <a:pt x="12447524" y="1580388"/>
                  </a:lnTo>
                  <a:cubicBezTo>
                    <a:pt x="12447524" y="1645158"/>
                    <a:pt x="12394057" y="1697736"/>
                    <a:pt x="12328017" y="1697736"/>
                  </a:cubicBezTo>
                  <a:lnTo>
                    <a:pt x="119507" y="1697736"/>
                  </a:lnTo>
                  <a:cubicBezTo>
                    <a:pt x="53467" y="1697736"/>
                    <a:pt x="0" y="1645285"/>
                    <a:pt x="0" y="158038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85624" cy="1735836"/>
            </a:xfrm>
            <a:custGeom>
              <a:avLst/>
              <a:gdLst/>
              <a:ahLst/>
              <a:cxnLst/>
              <a:rect r="r" b="b" t="t" l="l"/>
              <a:pathLst>
                <a:path h="1735836" w="12485624">
                  <a:moveTo>
                    <a:pt x="0" y="136398"/>
                  </a:moveTo>
                  <a:cubicBezTo>
                    <a:pt x="0" y="60706"/>
                    <a:pt x="62357" y="0"/>
                    <a:pt x="138557" y="0"/>
                  </a:cubicBezTo>
                  <a:lnTo>
                    <a:pt x="12347067" y="0"/>
                  </a:lnTo>
                  <a:lnTo>
                    <a:pt x="12347067" y="19050"/>
                  </a:lnTo>
                  <a:lnTo>
                    <a:pt x="12347067" y="0"/>
                  </a:lnTo>
                  <a:cubicBezTo>
                    <a:pt x="12423267" y="0"/>
                    <a:pt x="12485624" y="60706"/>
                    <a:pt x="12485624" y="136398"/>
                  </a:cubicBezTo>
                  <a:lnTo>
                    <a:pt x="12466574" y="136398"/>
                  </a:lnTo>
                  <a:lnTo>
                    <a:pt x="12485624" y="136398"/>
                  </a:lnTo>
                  <a:lnTo>
                    <a:pt x="12485624" y="1599438"/>
                  </a:lnTo>
                  <a:lnTo>
                    <a:pt x="12466574" y="1599438"/>
                  </a:lnTo>
                  <a:lnTo>
                    <a:pt x="12485624" y="1599438"/>
                  </a:lnTo>
                  <a:cubicBezTo>
                    <a:pt x="12485624" y="1675130"/>
                    <a:pt x="12423267" y="1735836"/>
                    <a:pt x="12347067" y="1735836"/>
                  </a:cubicBezTo>
                  <a:lnTo>
                    <a:pt x="12347067" y="1716786"/>
                  </a:lnTo>
                  <a:lnTo>
                    <a:pt x="12347067" y="1735836"/>
                  </a:lnTo>
                  <a:lnTo>
                    <a:pt x="138557" y="1735836"/>
                  </a:lnTo>
                  <a:lnTo>
                    <a:pt x="138557" y="1716786"/>
                  </a:lnTo>
                  <a:lnTo>
                    <a:pt x="138557" y="1735836"/>
                  </a:lnTo>
                  <a:cubicBezTo>
                    <a:pt x="62357" y="1735836"/>
                    <a:pt x="0" y="1675130"/>
                    <a:pt x="0" y="1599438"/>
                  </a:cubicBezTo>
                  <a:lnTo>
                    <a:pt x="0" y="136398"/>
                  </a:lnTo>
                  <a:lnTo>
                    <a:pt x="19050" y="136398"/>
                  </a:lnTo>
                  <a:lnTo>
                    <a:pt x="0" y="136398"/>
                  </a:lnTo>
                  <a:moveTo>
                    <a:pt x="38100" y="136398"/>
                  </a:moveTo>
                  <a:lnTo>
                    <a:pt x="38100" y="1599438"/>
                  </a:lnTo>
                  <a:lnTo>
                    <a:pt x="19050" y="1599438"/>
                  </a:lnTo>
                  <a:lnTo>
                    <a:pt x="38100" y="1599438"/>
                  </a:lnTo>
                  <a:cubicBezTo>
                    <a:pt x="38100" y="1653413"/>
                    <a:pt x="82804" y="1697736"/>
                    <a:pt x="138557" y="1697736"/>
                  </a:cubicBezTo>
                  <a:lnTo>
                    <a:pt x="12347067" y="1697736"/>
                  </a:lnTo>
                  <a:cubicBezTo>
                    <a:pt x="12402947" y="1697736"/>
                    <a:pt x="12447524" y="1653413"/>
                    <a:pt x="12447524" y="1599438"/>
                  </a:cubicBezTo>
                  <a:lnTo>
                    <a:pt x="12447524" y="136398"/>
                  </a:lnTo>
                  <a:cubicBezTo>
                    <a:pt x="12447524" y="82423"/>
                    <a:pt x="12402820" y="38100"/>
                    <a:pt x="12347067" y="38100"/>
                  </a:cubicBezTo>
                  <a:lnTo>
                    <a:pt x="138557" y="38100"/>
                  </a:lnTo>
                  <a:lnTo>
                    <a:pt x="138557" y="19050"/>
                  </a:lnTo>
                  <a:lnTo>
                    <a:pt x="138557" y="38100"/>
                  </a:lnTo>
                  <a:cubicBezTo>
                    <a:pt x="82804" y="38100"/>
                    <a:pt x="38100" y="82423"/>
                    <a:pt x="38100" y="136398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461867" y="2663571"/>
            <a:ext cx="837752" cy="1216076"/>
            <a:chOff x="0" y="0"/>
            <a:chExt cx="1117003" cy="16214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7092" cy="1621536"/>
            </a:xfrm>
            <a:custGeom>
              <a:avLst/>
              <a:gdLst/>
              <a:ahLst/>
              <a:cxnLst/>
              <a:rect r="r" b="b" t="t" l="l"/>
              <a:pathLst>
                <a:path h="1621536" w="1117092">
                  <a:moveTo>
                    <a:pt x="0" y="71628"/>
                  </a:moveTo>
                  <a:cubicBezTo>
                    <a:pt x="0" y="32004"/>
                    <a:pt x="32004" y="0"/>
                    <a:pt x="71628" y="0"/>
                  </a:cubicBezTo>
                  <a:lnTo>
                    <a:pt x="1045464" y="0"/>
                  </a:lnTo>
                  <a:cubicBezTo>
                    <a:pt x="1084961" y="0"/>
                    <a:pt x="1117092" y="32004"/>
                    <a:pt x="1117092" y="71628"/>
                  </a:cubicBezTo>
                  <a:lnTo>
                    <a:pt x="1117092" y="1549908"/>
                  </a:lnTo>
                  <a:cubicBezTo>
                    <a:pt x="1117092" y="1589405"/>
                    <a:pt x="1085088" y="1621536"/>
                    <a:pt x="1045464" y="1621536"/>
                  </a:cubicBezTo>
                  <a:lnTo>
                    <a:pt x="71628" y="1621536"/>
                  </a:lnTo>
                  <a:cubicBezTo>
                    <a:pt x="32131" y="1621536"/>
                    <a:pt x="0" y="1589532"/>
                    <a:pt x="0" y="1549908"/>
                  </a:cubicBezTo>
                  <a:close/>
                </a:path>
              </a:pathLst>
            </a:custGeom>
            <a:solidFill>
              <a:srgbClr val="F0D4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911896" y="3186555"/>
            <a:ext cx="314173" cy="34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94742" y="2769984"/>
            <a:ext cx="2464146" cy="38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272525"/>
                </a:solidFill>
                <a:latin typeface="Consolas Bold"/>
                <a:ea typeface="Consolas Bold"/>
                <a:cs typeface="Consolas Bold"/>
                <a:sym typeface="Consolas Bold"/>
              </a:rPr>
              <a:t>Lists </a:t>
            </a:r>
            <a:r>
              <a:rPr lang="en-US" sz="1937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\[1, 2, "a"\]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97256" y="3268561"/>
            <a:ext cx="8021984" cy="40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Ordered, mutable, and allow duplicate elements. Ideal for dynamic collections of items.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504730" y="4189209"/>
            <a:ext cx="9364266" cy="1301801"/>
            <a:chOff x="0" y="0"/>
            <a:chExt cx="12485688" cy="1735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050" y="19050"/>
              <a:ext cx="12447524" cy="1697736"/>
            </a:xfrm>
            <a:custGeom>
              <a:avLst/>
              <a:gdLst/>
              <a:ahLst/>
              <a:cxnLst/>
              <a:rect r="r" b="b" t="t" l="l"/>
              <a:pathLst>
                <a:path h="1697736" w="12447524">
                  <a:moveTo>
                    <a:pt x="0" y="117348"/>
                  </a:moveTo>
                  <a:cubicBezTo>
                    <a:pt x="0" y="52578"/>
                    <a:pt x="53467" y="0"/>
                    <a:pt x="119507" y="0"/>
                  </a:cubicBezTo>
                  <a:lnTo>
                    <a:pt x="12328017" y="0"/>
                  </a:lnTo>
                  <a:cubicBezTo>
                    <a:pt x="12394057" y="0"/>
                    <a:pt x="12447524" y="52451"/>
                    <a:pt x="12447524" y="117348"/>
                  </a:cubicBezTo>
                  <a:lnTo>
                    <a:pt x="12447524" y="1580388"/>
                  </a:lnTo>
                  <a:cubicBezTo>
                    <a:pt x="12447524" y="1645158"/>
                    <a:pt x="12394057" y="1697736"/>
                    <a:pt x="12328017" y="1697736"/>
                  </a:cubicBezTo>
                  <a:lnTo>
                    <a:pt x="119507" y="1697736"/>
                  </a:lnTo>
                  <a:cubicBezTo>
                    <a:pt x="53467" y="1697736"/>
                    <a:pt x="0" y="1645285"/>
                    <a:pt x="0" y="158038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85624" cy="1735836"/>
            </a:xfrm>
            <a:custGeom>
              <a:avLst/>
              <a:gdLst/>
              <a:ahLst/>
              <a:cxnLst/>
              <a:rect r="r" b="b" t="t" l="l"/>
              <a:pathLst>
                <a:path h="1735836" w="12485624">
                  <a:moveTo>
                    <a:pt x="0" y="136398"/>
                  </a:moveTo>
                  <a:cubicBezTo>
                    <a:pt x="0" y="60706"/>
                    <a:pt x="62357" y="0"/>
                    <a:pt x="138557" y="0"/>
                  </a:cubicBezTo>
                  <a:lnTo>
                    <a:pt x="12347067" y="0"/>
                  </a:lnTo>
                  <a:lnTo>
                    <a:pt x="12347067" y="19050"/>
                  </a:lnTo>
                  <a:lnTo>
                    <a:pt x="12347067" y="0"/>
                  </a:lnTo>
                  <a:cubicBezTo>
                    <a:pt x="12423267" y="0"/>
                    <a:pt x="12485624" y="60706"/>
                    <a:pt x="12485624" y="136398"/>
                  </a:cubicBezTo>
                  <a:lnTo>
                    <a:pt x="12466574" y="136398"/>
                  </a:lnTo>
                  <a:lnTo>
                    <a:pt x="12485624" y="136398"/>
                  </a:lnTo>
                  <a:lnTo>
                    <a:pt x="12485624" y="1599438"/>
                  </a:lnTo>
                  <a:lnTo>
                    <a:pt x="12466574" y="1599438"/>
                  </a:lnTo>
                  <a:lnTo>
                    <a:pt x="12485624" y="1599438"/>
                  </a:lnTo>
                  <a:cubicBezTo>
                    <a:pt x="12485624" y="1675130"/>
                    <a:pt x="12423267" y="1735836"/>
                    <a:pt x="12347067" y="1735836"/>
                  </a:cubicBezTo>
                  <a:lnTo>
                    <a:pt x="12347067" y="1716786"/>
                  </a:lnTo>
                  <a:lnTo>
                    <a:pt x="12347067" y="1735836"/>
                  </a:lnTo>
                  <a:lnTo>
                    <a:pt x="138557" y="1735836"/>
                  </a:lnTo>
                  <a:lnTo>
                    <a:pt x="138557" y="1716786"/>
                  </a:lnTo>
                  <a:lnTo>
                    <a:pt x="138557" y="1735836"/>
                  </a:lnTo>
                  <a:cubicBezTo>
                    <a:pt x="62357" y="1735836"/>
                    <a:pt x="0" y="1675130"/>
                    <a:pt x="0" y="1599438"/>
                  </a:cubicBezTo>
                  <a:lnTo>
                    <a:pt x="0" y="136398"/>
                  </a:lnTo>
                  <a:lnTo>
                    <a:pt x="19050" y="136398"/>
                  </a:lnTo>
                  <a:lnTo>
                    <a:pt x="0" y="136398"/>
                  </a:lnTo>
                  <a:moveTo>
                    <a:pt x="38100" y="136398"/>
                  </a:moveTo>
                  <a:lnTo>
                    <a:pt x="38100" y="1599438"/>
                  </a:lnTo>
                  <a:lnTo>
                    <a:pt x="19050" y="1599438"/>
                  </a:lnTo>
                  <a:lnTo>
                    <a:pt x="38100" y="1599438"/>
                  </a:lnTo>
                  <a:cubicBezTo>
                    <a:pt x="38100" y="1653413"/>
                    <a:pt x="82804" y="1697736"/>
                    <a:pt x="138557" y="1697736"/>
                  </a:cubicBezTo>
                  <a:lnTo>
                    <a:pt x="12347067" y="1697736"/>
                  </a:lnTo>
                  <a:cubicBezTo>
                    <a:pt x="12402947" y="1697736"/>
                    <a:pt x="12447524" y="1653413"/>
                    <a:pt x="12447524" y="1599438"/>
                  </a:cubicBezTo>
                  <a:lnTo>
                    <a:pt x="12447524" y="136398"/>
                  </a:lnTo>
                  <a:cubicBezTo>
                    <a:pt x="12447524" y="82423"/>
                    <a:pt x="12402820" y="38100"/>
                    <a:pt x="12347067" y="38100"/>
                  </a:cubicBezTo>
                  <a:lnTo>
                    <a:pt x="138557" y="38100"/>
                  </a:lnTo>
                  <a:lnTo>
                    <a:pt x="138557" y="19050"/>
                  </a:lnTo>
                  <a:lnTo>
                    <a:pt x="138557" y="38100"/>
                  </a:lnTo>
                  <a:cubicBezTo>
                    <a:pt x="82804" y="38100"/>
                    <a:pt x="38100" y="82423"/>
                    <a:pt x="38100" y="136398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547592" y="4232072"/>
            <a:ext cx="837752" cy="1216076"/>
            <a:chOff x="0" y="0"/>
            <a:chExt cx="1117003" cy="16214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7092" cy="1621536"/>
            </a:xfrm>
            <a:custGeom>
              <a:avLst/>
              <a:gdLst/>
              <a:ahLst/>
              <a:cxnLst/>
              <a:rect r="r" b="b" t="t" l="l"/>
              <a:pathLst>
                <a:path h="1621536" w="1117092">
                  <a:moveTo>
                    <a:pt x="0" y="71628"/>
                  </a:moveTo>
                  <a:cubicBezTo>
                    <a:pt x="0" y="32004"/>
                    <a:pt x="32004" y="0"/>
                    <a:pt x="71628" y="0"/>
                  </a:cubicBezTo>
                  <a:lnTo>
                    <a:pt x="1045464" y="0"/>
                  </a:lnTo>
                  <a:cubicBezTo>
                    <a:pt x="1084961" y="0"/>
                    <a:pt x="1117092" y="32004"/>
                    <a:pt x="1117092" y="71628"/>
                  </a:cubicBezTo>
                  <a:lnTo>
                    <a:pt x="1117092" y="1549908"/>
                  </a:lnTo>
                  <a:cubicBezTo>
                    <a:pt x="1117092" y="1589405"/>
                    <a:pt x="1085088" y="1621536"/>
                    <a:pt x="1045464" y="1621536"/>
                  </a:cubicBezTo>
                  <a:lnTo>
                    <a:pt x="71628" y="1621536"/>
                  </a:lnTo>
                  <a:cubicBezTo>
                    <a:pt x="32131" y="1621536"/>
                    <a:pt x="0" y="1589532"/>
                    <a:pt x="0" y="1549908"/>
                  </a:cubicBezTo>
                  <a:close/>
                </a:path>
              </a:pathLst>
            </a:custGeom>
            <a:solidFill>
              <a:srgbClr val="F0D4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804615" y="4691358"/>
            <a:ext cx="314173" cy="34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94742" y="4393854"/>
            <a:ext cx="2464146" cy="38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272525"/>
                </a:solidFill>
                <a:latin typeface="Consolas Bold"/>
                <a:ea typeface="Consolas Bold"/>
                <a:cs typeface="Consolas Bold"/>
                <a:sym typeface="Consolas Bold"/>
              </a:rPr>
              <a:t>Tuples </a:t>
            </a:r>
            <a:r>
              <a:rPr lang="en-US" sz="1937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(1, 2, "a")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94742" y="4837062"/>
            <a:ext cx="8021984" cy="40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Ordered, </a:t>
            </a:r>
            <a:r>
              <a:rPr lang="en-US" sz="1625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immutable</a:t>
            </a:r>
            <a:r>
              <a:rPr lang="en-US" sz="16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also allow duplicates. Perfect for fixed collections of related data.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504730" y="5671842"/>
            <a:ext cx="9364266" cy="1636814"/>
            <a:chOff x="0" y="0"/>
            <a:chExt cx="12485688" cy="21824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12447524" cy="2144395"/>
            </a:xfrm>
            <a:custGeom>
              <a:avLst/>
              <a:gdLst/>
              <a:ahLst/>
              <a:cxnLst/>
              <a:rect r="r" b="b" t="t" l="l"/>
              <a:pathLst>
                <a:path h="2144395" w="12447524">
                  <a:moveTo>
                    <a:pt x="0" y="117348"/>
                  </a:moveTo>
                  <a:cubicBezTo>
                    <a:pt x="0" y="52578"/>
                    <a:pt x="53340" y="0"/>
                    <a:pt x="118999" y="0"/>
                  </a:cubicBezTo>
                  <a:lnTo>
                    <a:pt x="12328525" y="0"/>
                  </a:lnTo>
                  <a:cubicBezTo>
                    <a:pt x="12394311" y="0"/>
                    <a:pt x="12447524" y="52451"/>
                    <a:pt x="12447524" y="117348"/>
                  </a:cubicBezTo>
                  <a:lnTo>
                    <a:pt x="12447524" y="2027047"/>
                  </a:lnTo>
                  <a:cubicBezTo>
                    <a:pt x="12447524" y="2091817"/>
                    <a:pt x="12394184" y="2144395"/>
                    <a:pt x="12328525" y="2144395"/>
                  </a:cubicBezTo>
                  <a:lnTo>
                    <a:pt x="118999" y="2144395"/>
                  </a:lnTo>
                  <a:cubicBezTo>
                    <a:pt x="53213" y="2144395"/>
                    <a:pt x="0" y="2091944"/>
                    <a:pt x="0" y="202704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485624" cy="2182495"/>
            </a:xfrm>
            <a:custGeom>
              <a:avLst/>
              <a:gdLst/>
              <a:ahLst/>
              <a:cxnLst/>
              <a:rect r="r" b="b" t="t" l="l"/>
              <a:pathLst>
                <a:path h="2182495" w="12485624">
                  <a:moveTo>
                    <a:pt x="0" y="136398"/>
                  </a:moveTo>
                  <a:cubicBezTo>
                    <a:pt x="0" y="60833"/>
                    <a:pt x="62103" y="0"/>
                    <a:pt x="138049" y="0"/>
                  </a:cubicBezTo>
                  <a:lnTo>
                    <a:pt x="12347575" y="0"/>
                  </a:lnTo>
                  <a:lnTo>
                    <a:pt x="12347575" y="19050"/>
                  </a:lnTo>
                  <a:lnTo>
                    <a:pt x="12347575" y="0"/>
                  </a:lnTo>
                  <a:cubicBezTo>
                    <a:pt x="12423521" y="0"/>
                    <a:pt x="12485624" y="60833"/>
                    <a:pt x="12485624" y="136398"/>
                  </a:cubicBezTo>
                  <a:lnTo>
                    <a:pt x="12466574" y="136398"/>
                  </a:lnTo>
                  <a:lnTo>
                    <a:pt x="12485624" y="136398"/>
                  </a:lnTo>
                  <a:lnTo>
                    <a:pt x="12485624" y="2046097"/>
                  </a:lnTo>
                  <a:lnTo>
                    <a:pt x="12466574" y="2046097"/>
                  </a:lnTo>
                  <a:lnTo>
                    <a:pt x="12485624" y="2046097"/>
                  </a:lnTo>
                  <a:cubicBezTo>
                    <a:pt x="12485624" y="2121662"/>
                    <a:pt x="12423521" y="2182495"/>
                    <a:pt x="12347575" y="2182495"/>
                  </a:cubicBezTo>
                  <a:lnTo>
                    <a:pt x="12347575" y="2163445"/>
                  </a:lnTo>
                  <a:lnTo>
                    <a:pt x="12347575" y="2182495"/>
                  </a:lnTo>
                  <a:lnTo>
                    <a:pt x="138049" y="2182495"/>
                  </a:lnTo>
                  <a:lnTo>
                    <a:pt x="138049" y="2163445"/>
                  </a:lnTo>
                  <a:lnTo>
                    <a:pt x="138049" y="2182495"/>
                  </a:lnTo>
                  <a:cubicBezTo>
                    <a:pt x="62103" y="2182368"/>
                    <a:pt x="0" y="2121662"/>
                    <a:pt x="0" y="2046097"/>
                  </a:cubicBezTo>
                  <a:lnTo>
                    <a:pt x="0" y="136398"/>
                  </a:lnTo>
                  <a:lnTo>
                    <a:pt x="19050" y="136398"/>
                  </a:lnTo>
                  <a:lnTo>
                    <a:pt x="0" y="136398"/>
                  </a:lnTo>
                  <a:moveTo>
                    <a:pt x="38100" y="136398"/>
                  </a:moveTo>
                  <a:lnTo>
                    <a:pt x="38100" y="2046097"/>
                  </a:lnTo>
                  <a:lnTo>
                    <a:pt x="19050" y="2046097"/>
                  </a:lnTo>
                  <a:lnTo>
                    <a:pt x="38100" y="2046097"/>
                  </a:lnTo>
                  <a:cubicBezTo>
                    <a:pt x="38100" y="2100072"/>
                    <a:pt x="82550" y="2144395"/>
                    <a:pt x="138049" y="2144395"/>
                  </a:cubicBezTo>
                  <a:lnTo>
                    <a:pt x="12347575" y="2144395"/>
                  </a:lnTo>
                  <a:cubicBezTo>
                    <a:pt x="12403074" y="2144395"/>
                    <a:pt x="12447524" y="2100199"/>
                    <a:pt x="12447524" y="2046097"/>
                  </a:cubicBezTo>
                  <a:lnTo>
                    <a:pt x="12447524" y="136398"/>
                  </a:lnTo>
                  <a:cubicBezTo>
                    <a:pt x="12447524" y="82423"/>
                    <a:pt x="12403074" y="38100"/>
                    <a:pt x="12347575" y="38100"/>
                  </a:cubicBezTo>
                  <a:lnTo>
                    <a:pt x="138049" y="38100"/>
                  </a:lnTo>
                  <a:lnTo>
                    <a:pt x="138049" y="19050"/>
                  </a:lnTo>
                  <a:lnTo>
                    <a:pt x="138049" y="38100"/>
                  </a:lnTo>
                  <a:cubicBezTo>
                    <a:pt x="82550" y="38100"/>
                    <a:pt x="38100" y="82296"/>
                    <a:pt x="38100" y="136398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547592" y="5714705"/>
            <a:ext cx="837752" cy="1551089"/>
            <a:chOff x="0" y="0"/>
            <a:chExt cx="1117003" cy="20681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7092" cy="2068195"/>
            </a:xfrm>
            <a:custGeom>
              <a:avLst/>
              <a:gdLst/>
              <a:ahLst/>
              <a:cxnLst/>
              <a:rect r="r" b="b" t="t" l="l"/>
              <a:pathLst>
                <a:path h="2068195" w="1117092">
                  <a:moveTo>
                    <a:pt x="0" y="71628"/>
                  </a:moveTo>
                  <a:cubicBezTo>
                    <a:pt x="0" y="32004"/>
                    <a:pt x="32004" y="0"/>
                    <a:pt x="71628" y="0"/>
                  </a:cubicBezTo>
                  <a:lnTo>
                    <a:pt x="1045464" y="0"/>
                  </a:lnTo>
                  <a:cubicBezTo>
                    <a:pt x="1084961" y="0"/>
                    <a:pt x="1117092" y="32004"/>
                    <a:pt x="1117092" y="71628"/>
                  </a:cubicBezTo>
                  <a:lnTo>
                    <a:pt x="1117092" y="1996567"/>
                  </a:lnTo>
                  <a:cubicBezTo>
                    <a:pt x="1117092" y="2036064"/>
                    <a:pt x="1085088" y="2068195"/>
                    <a:pt x="1045464" y="2068195"/>
                  </a:cubicBezTo>
                  <a:lnTo>
                    <a:pt x="71628" y="2068195"/>
                  </a:lnTo>
                  <a:cubicBezTo>
                    <a:pt x="32131" y="2068195"/>
                    <a:pt x="0" y="2036191"/>
                    <a:pt x="0" y="1996567"/>
                  </a:cubicBezTo>
                  <a:close/>
                </a:path>
              </a:pathLst>
            </a:custGeom>
            <a:solidFill>
              <a:srgbClr val="F0D4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4804615" y="6341564"/>
            <a:ext cx="314173" cy="34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94742" y="5876477"/>
            <a:ext cx="2464146" cy="38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272525"/>
                </a:solidFill>
                <a:latin typeface="Consolas Bold"/>
                <a:ea typeface="Consolas Bold"/>
                <a:cs typeface="Consolas Bold"/>
                <a:sym typeface="Consolas Bold"/>
              </a:rPr>
              <a:t>Sets </a:t>
            </a:r>
            <a:r>
              <a:rPr lang="en-US" sz="1937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{1, 2}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94742" y="6319685"/>
            <a:ext cx="8021984" cy="73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Unordered, mutable, but do </a:t>
            </a:r>
            <a:r>
              <a:rPr lang="en-US" sz="1625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not allow duplicates</a:t>
            </a:r>
            <a:r>
              <a:rPr lang="en-US" sz="16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 Useful for unique collections and mathematical set operations.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461867" y="7575356"/>
            <a:ext cx="9364266" cy="1636814"/>
            <a:chOff x="0" y="0"/>
            <a:chExt cx="12485688" cy="21824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9050" y="19050"/>
              <a:ext cx="12447524" cy="2144395"/>
            </a:xfrm>
            <a:custGeom>
              <a:avLst/>
              <a:gdLst/>
              <a:ahLst/>
              <a:cxnLst/>
              <a:rect r="r" b="b" t="t" l="l"/>
              <a:pathLst>
                <a:path h="2144395" w="12447524">
                  <a:moveTo>
                    <a:pt x="0" y="117348"/>
                  </a:moveTo>
                  <a:cubicBezTo>
                    <a:pt x="0" y="52578"/>
                    <a:pt x="53340" y="0"/>
                    <a:pt x="118999" y="0"/>
                  </a:cubicBezTo>
                  <a:lnTo>
                    <a:pt x="12328525" y="0"/>
                  </a:lnTo>
                  <a:cubicBezTo>
                    <a:pt x="12394311" y="0"/>
                    <a:pt x="12447524" y="52451"/>
                    <a:pt x="12447524" y="117348"/>
                  </a:cubicBezTo>
                  <a:lnTo>
                    <a:pt x="12447524" y="2027047"/>
                  </a:lnTo>
                  <a:cubicBezTo>
                    <a:pt x="12447524" y="2091817"/>
                    <a:pt x="12394184" y="2144395"/>
                    <a:pt x="12328525" y="2144395"/>
                  </a:cubicBezTo>
                  <a:lnTo>
                    <a:pt x="118999" y="2144395"/>
                  </a:lnTo>
                  <a:cubicBezTo>
                    <a:pt x="53213" y="2144395"/>
                    <a:pt x="0" y="2091944"/>
                    <a:pt x="0" y="202704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85624" cy="2182495"/>
            </a:xfrm>
            <a:custGeom>
              <a:avLst/>
              <a:gdLst/>
              <a:ahLst/>
              <a:cxnLst/>
              <a:rect r="r" b="b" t="t" l="l"/>
              <a:pathLst>
                <a:path h="2182495" w="12485624">
                  <a:moveTo>
                    <a:pt x="0" y="136398"/>
                  </a:moveTo>
                  <a:cubicBezTo>
                    <a:pt x="0" y="60833"/>
                    <a:pt x="62103" y="0"/>
                    <a:pt x="138049" y="0"/>
                  </a:cubicBezTo>
                  <a:lnTo>
                    <a:pt x="12347575" y="0"/>
                  </a:lnTo>
                  <a:lnTo>
                    <a:pt x="12347575" y="19050"/>
                  </a:lnTo>
                  <a:lnTo>
                    <a:pt x="12347575" y="0"/>
                  </a:lnTo>
                  <a:cubicBezTo>
                    <a:pt x="12423521" y="0"/>
                    <a:pt x="12485624" y="60833"/>
                    <a:pt x="12485624" y="136398"/>
                  </a:cubicBezTo>
                  <a:lnTo>
                    <a:pt x="12466574" y="136398"/>
                  </a:lnTo>
                  <a:lnTo>
                    <a:pt x="12485624" y="136398"/>
                  </a:lnTo>
                  <a:lnTo>
                    <a:pt x="12485624" y="2046097"/>
                  </a:lnTo>
                  <a:lnTo>
                    <a:pt x="12466574" y="2046097"/>
                  </a:lnTo>
                  <a:lnTo>
                    <a:pt x="12485624" y="2046097"/>
                  </a:lnTo>
                  <a:cubicBezTo>
                    <a:pt x="12485624" y="2121662"/>
                    <a:pt x="12423521" y="2182495"/>
                    <a:pt x="12347575" y="2182495"/>
                  </a:cubicBezTo>
                  <a:lnTo>
                    <a:pt x="12347575" y="2163445"/>
                  </a:lnTo>
                  <a:lnTo>
                    <a:pt x="12347575" y="2182495"/>
                  </a:lnTo>
                  <a:lnTo>
                    <a:pt x="138049" y="2182495"/>
                  </a:lnTo>
                  <a:lnTo>
                    <a:pt x="138049" y="2163445"/>
                  </a:lnTo>
                  <a:lnTo>
                    <a:pt x="138049" y="2182495"/>
                  </a:lnTo>
                  <a:cubicBezTo>
                    <a:pt x="62103" y="2182368"/>
                    <a:pt x="0" y="2121662"/>
                    <a:pt x="0" y="2046097"/>
                  </a:cubicBezTo>
                  <a:lnTo>
                    <a:pt x="0" y="136398"/>
                  </a:lnTo>
                  <a:lnTo>
                    <a:pt x="19050" y="136398"/>
                  </a:lnTo>
                  <a:lnTo>
                    <a:pt x="0" y="136398"/>
                  </a:lnTo>
                  <a:moveTo>
                    <a:pt x="38100" y="136398"/>
                  </a:moveTo>
                  <a:lnTo>
                    <a:pt x="38100" y="2046097"/>
                  </a:lnTo>
                  <a:lnTo>
                    <a:pt x="19050" y="2046097"/>
                  </a:lnTo>
                  <a:lnTo>
                    <a:pt x="38100" y="2046097"/>
                  </a:lnTo>
                  <a:cubicBezTo>
                    <a:pt x="38100" y="2100072"/>
                    <a:pt x="82550" y="2144395"/>
                    <a:pt x="138049" y="2144395"/>
                  </a:cubicBezTo>
                  <a:lnTo>
                    <a:pt x="12347575" y="2144395"/>
                  </a:lnTo>
                  <a:cubicBezTo>
                    <a:pt x="12403074" y="2144395"/>
                    <a:pt x="12447524" y="2100199"/>
                    <a:pt x="12447524" y="2046097"/>
                  </a:cubicBezTo>
                  <a:lnTo>
                    <a:pt x="12447524" y="136398"/>
                  </a:lnTo>
                  <a:cubicBezTo>
                    <a:pt x="12447524" y="82423"/>
                    <a:pt x="12403074" y="38100"/>
                    <a:pt x="12347575" y="38100"/>
                  </a:cubicBezTo>
                  <a:lnTo>
                    <a:pt x="138049" y="38100"/>
                  </a:lnTo>
                  <a:lnTo>
                    <a:pt x="138049" y="19050"/>
                  </a:lnTo>
                  <a:lnTo>
                    <a:pt x="138049" y="38100"/>
                  </a:lnTo>
                  <a:cubicBezTo>
                    <a:pt x="82550" y="38100"/>
                    <a:pt x="38100" y="82296"/>
                    <a:pt x="38100" y="136398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504730" y="7618219"/>
            <a:ext cx="837752" cy="1551089"/>
            <a:chOff x="0" y="0"/>
            <a:chExt cx="1117003" cy="20681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7092" cy="2068195"/>
            </a:xfrm>
            <a:custGeom>
              <a:avLst/>
              <a:gdLst/>
              <a:ahLst/>
              <a:cxnLst/>
              <a:rect r="r" b="b" t="t" l="l"/>
              <a:pathLst>
                <a:path h="2068195" w="1117092">
                  <a:moveTo>
                    <a:pt x="0" y="71628"/>
                  </a:moveTo>
                  <a:cubicBezTo>
                    <a:pt x="0" y="32004"/>
                    <a:pt x="32004" y="0"/>
                    <a:pt x="71628" y="0"/>
                  </a:cubicBezTo>
                  <a:lnTo>
                    <a:pt x="1045464" y="0"/>
                  </a:lnTo>
                  <a:cubicBezTo>
                    <a:pt x="1084961" y="0"/>
                    <a:pt x="1117092" y="32004"/>
                    <a:pt x="1117092" y="71628"/>
                  </a:cubicBezTo>
                  <a:lnTo>
                    <a:pt x="1117092" y="1996567"/>
                  </a:lnTo>
                  <a:cubicBezTo>
                    <a:pt x="1117092" y="2036064"/>
                    <a:pt x="1085088" y="2068195"/>
                    <a:pt x="1045464" y="2068195"/>
                  </a:cubicBezTo>
                  <a:lnTo>
                    <a:pt x="71628" y="2068195"/>
                  </a:lnTo>
                  <a:cubicBezTo>
                    <a:pt x="32131" y="2068195"/>
                    <a:pt x="0" y="2036191"/>
                    <a:pt x="0" y="1996567"/>
                  </a:cubicBezTo>
                  <a:close/>
                </a:path>
              </a:pathLst>
            </a:custGeom>
            <a:solidFill>
              <a:srgbClr val="F0D4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4761752" y="8245078"/>
            <a:ext cx="314173" cy="34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551880" y="7779991"/>
            <a:ext cx="3072851" cy="38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272525"/>
                </a:solidFill>
                <a:latin typeface="Consolas Bold"/>
                <a:ea typeface="Consolas Bold"/>
                <a:cs typeface="Consolas Bold"/>
                <a:sym typeface="Consolas Bold"/>
              </a:rPr>
              <a:t>Dictionaries </a:t>
            </a:r>
            <a:r>
              <a:rPr lang="en-US" sz="1937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{'key': 'value'}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51880" y="8223199"/>
            <a:ext cx="8021984" cy="73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Key-value pairs, ordered (from Python 3.7+), with unique keys. Essential for mapping and fast lookups.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47159" y="1223067"/>
            <a:ext cx="15833522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Operators &amp; Control Flow: Directing Your Code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159" y="2625328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Mastering operators and control flow is crucial for creating dynamic and logical programs.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47159" y="3535861"/>
            <a:ext cx="897579" cy="897579"/>
          </a:xfrm>
          <a:custGeom>
            <a:avLst/>
            <a:gdLst/>
            <a:ahLst/>
            <a:cxnLst/>
            <a:rect r="r" b="b" t="t" l="l"/>
            <a:pathLst>
              <a:path h="897579" w="897579">
                <a:moveTo>
                  <a:pt x="0" y="0"/>
                </a:moveTo>
                <a:lnTo>
                  <a:pt x="897579" y="0"/>
                </a:lnTo>
                <a:lnTo>
                  <a:pt x="897579" y="897579"/>
                </a:lnTo>
                <a:lnTo>
                  <a:pt x="0" y="897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7159" y="4797923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Operators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5331619"/>
            <a:ext cx="5148558" cy="110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Arithmetic &amp; Assignment: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+, -, *, /, +=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6450959"/>
            <a:ext cx="5148558" cy="110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Relational &amp; Logical: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==, !=, &gt;, and, 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7570289"/>
            <a:ext cx="5148558" cy="10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Special: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is (identity), in (membership)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6569716" y="3535861"/>
            <a:ext cx="897579" cy="897579"/>
          </a:xfrm>
          <a:custGeom>
            <a:avLst/>
            <a:gdLst/>
            <a:ahLst/>
            <a:cxnLst/>
            <a:rect r="r" b="b" t="t" l="l"/>
            <a:pathLst>
              <a:path h="897579" w="897579">
                <a:moveTo>
                  <a:pt x="0" y="0"/>
                </a:moveTo>
                <a:lnTo>
                  <a:pt x="897579" y="0"/>
                </a:lnTo>
                <a:lnTo>
                  <a:pt x="897579" y="897579"/>
                </a:lnTo>
                <a:lnTo>
                  <a:pt x="0" y="897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69716" y="4797923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Decision Making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9716" y="5331619"/>
            <a:ext cx="5148558" cy="110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Conditional Statements: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if, if-else, if-elif-else for varied logic.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716" y="6450959"/>
            <a:ext cx="5148558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Nested Conditionals: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handling complex decision paths within your code.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092283" y="3535861"/>
            <a:ext cx="897579" cy="897579"/>
          </a:xfrm>
          <a:custGeom>
            <a:avLst/>
            <a:gdLst/>
            <a:ahLst/>
            <a:cxnLst/>
            <a:rect r="r" b="b" t="t" l="l"/>
            <a:pathLst>
              <a:path h="897579" w="897579">
                <a:moveTo>
                  <a:pt x="0" y="0"/>
                </a:moveTo>
                <a:lnTo>
                  <a:pt x="897579" y="0"/>
                </a:lnTo>
                <a:lnTo>
                  <a:pt x="897579" y="897579"/>
                </a:lnTo>
                <a:lnTo>
                  <a:pt x="0" y="897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2631" t="0" r="-5263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92283" y="4797923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Looping Constructs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2283" y="5331619"/>
            <a:ext cx="5148558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while Loop: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Repeats execution as long as a condition is true.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92283" y="6393809"/>
            <a:ext cx="5148558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 Loop: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Iterates over sequences like lists, strings, or ranges.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92283" y="7455989"/>
            <a:ext cx="5148558" cy="158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 Statements: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break (exit loop), continue (skip iteration), pass (null operation).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1977" y="782241"/>
            <a:ext cx="15616533" cy="808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Advanced Collections: Mastering Data Manipulation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1977" y="2075891"/>
            <a:ext cx="5836757" cy="42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783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Lists &amp; Tuples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1977" y="2748235"/>
            <a:ext cx="14560854" cy="44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155" indent="-177578" lvl="1">
              <a:lnSpc>
                <a:spcPts val="3782"/>
              </a:lnSpc>
              <a:buFont typeface="Arial"/>
              <a:buChar char="•"/>
            </a:pPr>
            <a:r>
              <a:rPr lang="en-US" sz="235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Slicing:</a:t>
            </a:r>
            <a:r>
              <a:rPr lang="en-US" sz="235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Extracting subsets with list[start:stop:step] for powerful data extraction.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977" y="3845307"/>
            <a:ext cx="14560854" cy="44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155" indent="-177578" lvl="1">
              <a:lnSpc>
                <a:spcPts val="3782"/>
              </a:lnSpc>
              <a:buFont typeface="Arial"/>
              <a:buChar char="•"/>
            </a:pPr>
            <a:r>
              <a:rPr lang="en-US" sz="235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Methods:</a:t>
            </a:r>
            <a:r>
              <a:rPr lang="en-US" sz="235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Key list operations include append(), remove(), pop(), sort() for dynamic management.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977" y="4964131"/>
            <a:ext cx="14560854" cy="92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155" indent="-177578" lvl="1">
              <a:lnSpc>
                <a:spcPts val="3782"/>
              </a:lnSpc>
              <a:buFont typeface="Arial"/>
              <a:buChar char="•"/>
            </a:pPr>
            <a:r>
              <a:rPr lang="en-US" sz="235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Aliasing vs. Cloning:</a:t>
            </a:r>
            <a:r>
              <a:rPr lang="en-US" sz="235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Understand the difference between reference (b = a) and a true copy (b = a[:]) to avoid unexpected side effects.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1977" y="6334349"/>
            <a:ext cx="5836757" cy="42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783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Sets &amp; Dictionaries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1977" y="7006693"/>
            <a:ext cx="14560854" cy="44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155" indent="-177578" lvl="1">
              <a:lnSpc>
                <a:spcPts val="3782"/>
              </a:lnSpc>
              <a:buFont typeface="Arial"/>
              <a:buChar char="•"/>
            </a:pPr>
            <a:r>
              <a:rPr lang="en-US" sz="235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Set Operations:</a:t>
            </a:r>
            <a:r>
              <a:rPr lang="en-US" sz="235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Perform mathematical operations like Union (|), Intersection (&amp;), and Difference (-).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1977" y="8125516"/>
            <a:ext cx="14560854" cy="92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155" indent="-177578" lvl="1">
              <a:lnSpc>
                <a:spcPts val="3782"/>
              </a:lnSpc>
              <a:buFont typeface="Arial"/>
              <a:buChar char="•"/>
            </a:pPr>
            <a:r>
              <a:rPr lang="en-US" sz="235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Dictionary Access:</a:t>
            </a:r>
            <a:r>
              <a:rPr lang="en-US" sz="235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Retrieve values efficiently via keys. Utilize methods such as get(), keys(), values(), items(), and traverse using loops.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2341279" y="530240"/>
            <a:ext cx="16083143" cy="700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6"/>
              </a:lnSpc>
            </a:pPr>
            <a:r>
              <a:rPr lang="en-US" sz="4513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Functions &amp; Modules: Structured Programming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49143" y="1376461"/>
            <a:ext cx="9335691" cy="435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Functions modularise code, while modules and packages enable reuse and organization.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911489" y="2244141"/>
            <a:ext cx="10465022" cy="3416933"/>
            <a:chOff x="0" y="0"/>
            <a:chExt cx="12485688" cy="4076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12447524" cy="4038600"/>
            </a:xfrm>
            <a:custGeom>
              <a:avLst/>
              <a:gdLst/>
              <a:ahLst/>
              <a:cxnLst/>
              <a:rect r="r" b="b" t="t" l="l"/>
              <a:pathLst>
                <a:path h="4038600" w="12447524">
                  <a:moveTo>
                    <a:pt x="0" y="182880"/>
                  </a:moveTo>
                  <a:cubicBezTo>
                    <a:pt x="0" y="81915"/>
                    <a:pt x="82423" y="0"/>
                    <a:pt x="184023" y="0"/>
                  </a:cubicBezTo>
                  <a:lnTo>
                    <a:pt x="12263501" y="0"/>
                  </a:lnTo>
                  <a:cubicBezTo>
                    <a:pt x="12365101" y="0"/>
                    <a:pt x="12447524" y="81915"/>
                    <a:pt x="12447524" y="182880"/>
                  </a:cubicBezTo>
                  <a:lnTo>
                    <a:pt x="12447524" y="3855720"/>
                  </a:lnTo>
                  <a:cubicBezTo>
                    <a:pt x="12447524" y="3956685"/>
                    <a:pt x="12365101" y="4038600"/>
                    <a:pt x="12263501" y="4038600"/>
                  </a:cubicBezTo>
                  <a:lnTo>
                    <a:pt x="184023" y="4038600"/>
                  </a:lnTo>
                  <a:cubicBezTo>
                    <a:pt x="82423" y="4038600"/>
                    <a:pt x="0" y="3956685"/>
                    <a:pt x="0" y="385572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85624" cy="4076700"/>
            </a:xfrm>
            <a:custGeom>
              <a:avLst/>
              <a:gdLst/>
              <a:ahLst/>
              <a:cxnLst/>
              <a:rect r="r" b="b" t="t" l="l"/>
              <a:pathLst>
                <a:path h="4076700" w="12485624">
                  <a:moveTo>
                    <a:pt x="0" y="201930"/>
                  </a:moveTo>
                  <a:cubicBezTo>
                    <a:pt x="0" y="90297"/>
                    <a:pt x="91059" y="0"/>
                    <a:pt x="203073" y="0"/>
                  </a:cubicBezTo>
                  <a:lnTo>
                    <a:pt x="12282551" y="0"/>
                  </a:lnTo>
                  <a:lnTo>
                    <a:pt x="12282551" y="19050"/>
                  </a:lnTo>
                  <a:lnTo>
                    <a:pt x="12282551" y="0"/>
                  </a:lnTo>
                  <a:cubicBezTo>
                    <a:pt x="12394565" y="0"/>
                    <a:pt x="12485624" y="90297"/>
                    <a:pt x="12485624" y="201930"/>
                  </a:cubicBezTo>
                  <a:lnTo>
                    <a:pt x="12466574" y="201930"/>
                  </a:lnTo>
                  <a:lnTo>
                    <a:pt x="12485624" y="201930"/>
                  </a:lnTo>
                  <a:lnTo>
                    <a:pt x="12485624" y="3874770"/>
                  </a:lnTo>
                  <a:lnTo>
                    <a:pt x="12466574" y="3874770"/>
                  </a:lnTo>
                  <a:lnTo>
                    <a:pt x="12485624" y="3874770"/>
                  </a:lnTo>
                  <a:cubicBezTo>
                    <a:pt x="12485624" y="3986403"/>
                    <a:pt x="12394565" y="4076700"/>
                    <a:pt x="12282551" y="4076700"/>
                  </a:cubicBezTo>
                  <a:lnTo>
                    <a:pt x="12282551" y="4057650"/>
                  </a:lnTo>
                  <a:lnTo>
                    <a:pt x="12282551" y="4076700"/>
                  </a:lnTo>
                  <a:lnTo>
                    <a:pt x="203073" y="4076700"/>
                  </a:lnTo>
                  <a:lnTo>
                    <a:pt x="203073" y="4057650"/>
                  </a:lnTo>
                  <a:lnTo>
                    <a:pt x="203073" y="4076700"/>
                  </a:lnTo>
                  <a:cubicBezTo>
                    <a:pt x="91059" y="4076700"/>
                    <a:pt x="0" y="3986403"/>
                    <a:pt x="0" y="387477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874770"/>
                  </a:lnTo>
                  <a:lnTo>
                    <a:pt x="19050" y="3874770"/>
                  </a:lnTo>
                  <a:lnTo>
                    <a:pt x="38100" y="3874770"/>
                  </a:lnTo>
                  <a:cubicBezTo>
                    <a:pt x="38100" y="3965194"/>
                    <a:pt x="111887" y="4038600"/>
                    <a:pt x="203073" y="4038600"/>
                  </a:cubicBezTo>
                  <a:lnTo>
                    <a:pt x="12282551" y="4038600"/>
                  </a:lnTo>
                  <a:cubicBezTo>
                    <a:pt x="12373737" y="4038600"/>
                    <a:pt x="12447524" y="3965194"/>
                    <a:pt x="12447524" y="3874770"/>
                  </a:cubicBezTo>
                  <a:lnTo>
                    <a:pt x="12447524" y="201930"/>
                  </a:lnTo>
                  <a:cubicBezTo>
                    <a:pt x="12447524" y="111506"/>
                    <a:pt x="12373737" y="38100"/>
                    <a:pt x="12282551" y="38100"/>
                  </a:cubicBezTo>
                  <a:lnTo>
                    <a:pt x="203073" y="38100"/>
                  </a:lnTo>
                  <a:lnTo>
                    <a:pt x="203073" y="19050"/>
                  </a:lnTo>
                  <a:lnTo>
                    <a:pt x="203073" y="38100"/>
                  </a:lnTo>
                  <a:cubicBezTo>
                    <a:pt x="111887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911489" y="2297245"/>
            <a:ext cx="124933" cy="3310724"/>
            <a:chOff x="0" y="0"/>
            <a:chExt cx="152400" cy="4038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4038600"/>
            </a:xfrm>
            <a:custGeom>
              <a:avLst/>
              <a:gdLst/>
              <a:ahLst/>
              <a:cxnLst/>
              <a:rect r="r" b="b" t="t" l="l"/>
              <a:pathLst>
                <a:path h="40386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962400"/>
                  </a:lnTo>
                  <a:cubicBezTo>
                    <a:pt x="152400" y="4004437"/>
                    <a:pt x="118237" y="4038600"/>
                    <a:pt x="76200" y="4038600"/>
                  </a:cubicBezTo>
                  <a:cubicBezTo>
                    <a:pt x="34163" y="4038600"/>
                    <a:pt x="0" y="4004437"/>
                    <a:pt x="0" y="3962400"/>
                  </a:cubicBezTo>
                  <a:close/>
                </a:path>
              </a:pathLst>
            </a:custGeom>
            <a:solidFill>
              <a:srgbClr val="BE49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307682" y="2534568"/>
            <a:ext cx="4691935" cy="37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31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Functions: Reusable Code Blocks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07682" y="2989416"/>
            <a:ext cx="9817998" cy="48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6330" indent="-148165" lvl="1">
              <a:lnSpc>
                <a:spcPts val="3157"/>
              </a:lnSpc>
              <a:buFont typeface="Arial"/>
              <a:buChar char="•"/>
            </a:pPr>
            <a:r>
              <a:rPr lang="en-US" sz="196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Built-in:</a:t>
            </a:r>
            <a:r>
              <a:rPr lang="en-US" sz="196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Common utilities like len(), type(), range(), max().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7682" y="3491230"/>
            <a:ext cx="9817998" cy="48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6330" indent="-148165" lvl="1">
              <a:lnSpc>
                <a:spcPts val="3157"/>
              </a:lnSpc>
              <a:buFont typeface="Arial"/>
              <a:buChar char="•"/>
            </a:pPr>
            <a:r>
              <a:rPr lang="en-US" sz="196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User-Defined:</a:t>
            </a:r>
            <a:r>
              <a:rPr lang="en-US" sz="196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Create your own functions using the def keyword.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07682" y="3993043"/>
            <a:ext cx="9817998" cy="89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6330" indent="-148165" lvl="1">
              <a:lnSpc>
                <a:spcPts val="3157"/>
              </a:lnSpc>
              <a:buFont typeface="Arial"/>
              <a:buChar char="•"/>
            </a:pPr>
            <a:r>
              <a:rPr lang="en-US" sz="196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Arguments:</a:t>
            </a:r>
            <a:r>
              <a:rPr lang="en-US" sz="196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Manage data input with positional, keyword, default, and variable-length arguments (*args).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07682" y="4897904"/>
            <a:ext cx="9817998" cy="47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6330" indent="-148165" lvl="1">
              <a:lnSpc>
                <a:spcPts val="3157"/>
              </a:lnSpc>
              <a:buFont typeface="Arial"/>
              <a:buChar char="•"/>
            </a:pPr>
            <a:r>
              <a:rPr lang="en-US" sz="196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Scope:</a:t>
            </a:r>
            <a:r>
              <a:rPr lang="en-US" sz="196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Understand the distinction between local and global variables.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927432" y="6007649"/>
            <a:ext cx="10449079" cy="3324213"/>
            <a:chOff x="0" y="0"/>
            <a:chExt cx="12485688" cy="3972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12447651" cy="3933952"/>
            </a:xfrm>
            <a:custGeom>
              <a:avLst/>
              <a:gdLst/>
              <a:ahLst/>
              <a:cxnLst/>
              <a:rect r="r" b="b" t="t" l="l"/>
              <a:pathLst>
                <a:path h="3933952" w="12447651">
                  <a:moveTo>
                    <a:pt x="0" y="182880"/>
                  </a:moveTo>
                  <a:cubicBezTo>
                    <a:pt x="0" y="81915"/>
                    <a:pt x="82423" y="0"/>
                    <a:pt x="184150" y="0"/>
                  </a:cubicBezTo>
                  <a:lnTo>
                    <a:pt x="12263501" y="0"/>
                  </a:lnTo>
                  <a:cubicBezTo>
                    <a:pt x="12365228" y="0"/>
                    <a:pt x="12447651" y="81915"/>
                    <a:pt x="12447651" y="182880"/>
                  </a:cubicBezTo>
                  <a:lnTo>
                    <a:pt x="12447651" y="3751072"/>
                  </a:lnTo>
                  <a:cubicBezTo>
                    <a:pt x="12447651" y="3852037"/>
                    <a:pt x="12365228" y="3933952"/>
                    <a:pt x="12263501" y="3933952"/>
                  </a:cubicBezTo>
                  <a:lnTo>
                    <a:pt x="184150" y="3933952"/>
                  </a:lnTo>
                  <a:cubicBezTo>
                    <a:pt x="82423" y="3933952"/>
                    <a:pt x="0" y="3852037"/>
                    <a:pt x="0" y="375107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85751" cy="3972052"/>
            </a:xfrm>
            <a:custGeom>
              <a:avLst/>
              <a:gdLst/>
              <a:ahLst/>
              <a:cxnLst/>
              <a:rect r="r" b="b" t="t" l="l"/>
              <a:pathLst>
                <a:path h="3972052" w="12485751">
                  <a:moveTo>
                    <a:pt x="0" y="201930"/>
                  </a:moveTo>
                  <a:cubicBezTo>
                    <a:pt x="0" y="90297"/>
                    <a:pt x="91059" y="0"/>
                    <a:pt x="203200" y="0"/>
                  </a:cubicBezTo>
                  <a:lnTo>
                    <a:pt x="12282551" y="0"/>
                  </a:lnTo>
                  <a:lnTo>
                    <a:pt x="12282551" y="19050"/>
                  </a:lnTo>
                  <a:lnTo>
                    <a:pt x="12282551" y="0"/>
                  </a:lnTo>
                  <a:cubicBezTo>
                    <a:pt x="12394692" y="0"/>
                    <a:pt x="12485751" y="90297"/>
                    <a:pt x="12485751" y="201930"/>
                  </a:cubicBezTo>
                  <a:lnTo>
                    <a:pt x="12466701" y="201930"/>
                  </a:lnTo>
                  <a:lnTo>
                    <a:pt x="12485751" y="201930"/>
                  </a:lnTo>
                  <a:lnTo>
                    <a:pt x="12485751" y="3770122"/>
                  </a:lnTo>
                  <a:lnTo>
                    <a:pt x="12466701" y="3770122"/>
                  </a:lnTo>
                  <a:lnTo>
                    <a:pt x="12485751" y="3770122"/>
                  </a:lnTo>
                  <a:cubicBezTo>
                    <a:pt x="12485751" y="3881755"/>
                    <a:pt x="12394692" y="3972052"/>
                    <a:pt x="12282551" y="3972052"/>
                  </a:cubicBezTo>
                  <a:lnTo>
                    <a:pt x="12282551" y="3953002"/>
                  </a:lnTo>
                  <a:lnTo>
                    <a:pt x="12282551" y="3972052"/>
                  </a:lnTo>
                  <a:lnTo>
                    <a:pt x="203200" y="3972052"/>
                  </a:lnTo>
                  <a:lnTo>
                    <a:pt x="203200" y="3953002"/>
                  </a:lnTo>
                  <a:lnTo>
                    <a:pt x="203200" y="3972052"/>
                  </a:lnTo>
                  <a:cubicBezTo>
                    <a:pt x="91059" y="3972052"/>
                    <a:pt x="0" y="3881755"/>
                    <a:pt x="0" y="377012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770122"/>
                  </a:lnTo>
                  <a:lnTo>
                    <a:pt x="19050" y="3770122"/>
                  </a:lnTo>
                  <a:lnTo>
                    <a:pt x="38100" y="3770122"/>
                  </a:lnTo>
                  <a:cubicBezTo>
                    <a:pt x="38100" y="3860546"/>
                    <a:pt x="111887" y="3933952"/>
                    <a:pt x="203200" y="3933952"/>
                  </a:cubicBezTo>
                  <a:lnTo>
                    <a:pt x="12282551" y="3933952"/>
                  </a:lnTo>
                  <a:cubicBezTo>
                    <a:pt x="12373864" y="3933952"/>
                    <a:pt x="12447651" y="3860419"/>
                    <a:pt x="12447651" y="3770122"/>
                  </a:cubicBezTo>
                  <a:lnTo>
                    <a:pt x="12447651" y="201930"/>
                  </a:lnTo>
                  <a:cubicBezTo>
                    <a:pt x="12447651" y="111506"/>
                    <a:pt x="12373864" y="38100"/>
                    <a:pt x="12282551" y="38100"/>
                  </a:cubicBezTo>
                  <a:lnTo>
                    <a:pt x="203200" y="38100"/>
                  </a:lnTo>
                  <a:lnTo>
                    <a:pt x="203200" y="19050"/>
                  </a:lnTo>
                  <a:lnTo>
                    <a:pt x="203200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911489" y="6023592"/>
            <a:ext cx="127541" cy="3292328"/>
            <a:chOff x="0" y="0"/>
            <a:chExt cx="152400" cy="39340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3934079"/>
            </a:xfrm>
            <a:custGeom>
              <a:avLst/>
              <a:gdLst/>
              <a:ahLst/>
              <a:cxnLst/>
              <a:rect r="r" b="b" t="t" l="l"/>
              <a:pathLst>
                <a:path h="3934079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857879"/>
                  </a:lnTo>
                  <a:cubicBezTo>
                    <a:pt x="152400" y="3899916"/>
                    <a:pt x="118237" y="3934079"/>
                    <a:pt x="76200" y="3934079"/>
                  </a:cubicBezTo>
                  <a:cubicBezTo>
                    <a:pt x="34163" y="3934079"/>
                    <a:pt x="0" y="3899916"/>
                    <a:pt x="0" y="3857879"/>
                  </a:cubicBezTo>
                  <a:close/>
                </a:path>
              </a:pathLst>
            </a:custGeom>
            <a:solidFill>
              <a:srgbClr val="BE49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4321173" y="6296210"/>
            <a:ext cx="6548944" cy="37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301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Modules &amp; Packages: Organising Your Projects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21173" y="6709741"/>
            <a:ext cx="9757232" cy="9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4496" indent="-147248" lvl="1">
              <a:lnSpc>
                <a:spcPts val="3138"/>
              </a:lnSpc>
              <a:buFont typeface="Arial"/>
              <a:buChar char="•"/>
            </a:pPr>
            <a:r>
              <a:rPr lang="en-US" sz="1952">
                <a:solidFill>
                  <a:srgbClr val="BE49DF"/>
                </a:solidFill>
                <a:latin typeface="Consolas"/>
                <a:ea typeface="Consolas"/>
                <a:cs typeface="Consolas"/>
                <a:sym typeface="Consolas"/>
              </a:rPr>
              <a:t>Importing:</a:t>
            </a:r>
            <a:r>
              <a:rPr lang="en-US" sz="195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Bring in external code using import module_name or from module import specific_func.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21173" y="7648205"/>
            <a:ext cx="9757232" cy="88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4496" indent="-147248" lvl="1">
              <a:lnSpc>
                <a:spcPts val="3138"/>
              </a:lnSpc>
              <a:buFont typeface="Arial"/>
              <a:buChar char="•"/>
            </a:pPr>
            <a:r>
              <a:rPr lang="en-US" sz="195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Libraries:</a:t>
            </a:r>
            <a:r>
              <a:rPr lang="en-US" sz="195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Explore powerful libraries like </a:t>
            </a:r>
            <a:r>
              <a:rPr lang="en-US" sz="195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NumPy</a:t>
            </a:r>
            <a:r>
              <a:rPr lang="en-US" sz="195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high-performance numerical computing (arrays, matrices).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21173" y="8536849"/>
            <a:ext cx="9757232" cy="49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4496" indent="-147248" lvl="1">
              <a:lnSpc>
                <a:spcPts val="3138"/>
              </a:lnSpc>
              <a:buFont typeface="Arial"/>
              <a:buChar char="•"/>
            </a:pPr>
            <a:r>
              <a:rPr lang="en-US" sz="1952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Packages:</a:t>
            </a:r>
            <a:r>
              <a:rPr lang="en-US" sz="195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Structure larger projects into directories with an __init__.py file.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159" y="924820"/>
            <a:ext cx="16193691" cy="169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Object-Oriented Programming (OOP): Real-World Modelling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3098597"/>
            <a:ext cx="16193691" cy="54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OOP is a powerful paradigm for structuring programs by modelling real-world entities.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81288" y="4217041"/>
            <a:ext cx="3344170" cy="42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Classes &amp; Objects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4729315"/>
            <a:ext cx="4978298" cy="145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</a:t>
            </a:r>
            <a:r>
              <a:rPr lang="en-US" sz="2187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Class</a:t>
            </a:r>
            <a:r>
              <a:rPr lang="en-US" sz="2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acts as a blueprint, while an </a:t>
            </a:r>
            <a:r>
              <a:rPr lang="en-US" sz="2187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Object</a:t>
            </a:r>
            <a:r>
              <a:rPr lang="en-US" sz="2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is a specific instance of that blueprint.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451844" y="3958828"/>
            <a:ext cx="5384302" cy="5384302"/>
          </a:xfrm>
          <a:custGeom>
            <a:avLst/>
            <a:gdLst/>
            <a:ahLst/>
            <a:cxnLst/>
            <a:rect r="r" b="b" t="t" l="l"/>
            <a:pathLst>
              <a:path h="5384302" w="5384302">
                <a:moveTo>
                  <a:pt x="0" y="0"/>
                </a:moveTo>
                <a:lnTo>
                  <a:pt x="5384302" y="0"/>
                </a:lnTo>
                <a:lnTo>
                  <a:pt x="5384302" y="5384302"/>
                </a:lnTo>
                <a:lnTo>
                  <a:pt x="0" y="5384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 descr="preencoded.png"/>
          <p:cNvSpPr/>
          <p:nvPr/>
        </p:nvSpPr>
        <p:spPr>
          <a:xfrm flipH="false" flipV="false" rot="0">
            <a:off x="7847781" y="4896374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110" r="0" b="-1111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262542" y="4207516"/>
            <a:ext cx="3344170" cy="42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Encapsulation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62542" y="4719790"/>
            <a:ext cx="4978298" cy="146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Bundling data and methods within a class, often achieving data hiding with private variables (e.g., __variable).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451844" y="3958828"/>
            <a:ext cx="5384302" cy="5384302"/>
          </a:xfrm>
          <a:custGeom>
            <a:avLst/>
            <a:gdLst/>
            <a:ahLst/>
            <a:cxnLst/>
            <a:rect r="r" b="b" t="t" l="l"/>
            <a:pathLst>
              <a:path h="5384302" w="5384302">
                <a:moveTo>
                  <a:pt x="0" y="0"/>
                </a:moveTo>
                <a:lnTo>
                  <a:pt x="5384302" y="0"/>
                </a:lnTo>
                <a:lnTo>
                  <a:pt x="5384302" y="5384302"/>
                </a:lnTo>
                <a:lnTo>
                  <a:pt x="0" y="53843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10473109" y="5354612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3333" r="0" b="-1333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62542" y="7122319"/>
            <a:ext cx="3344170" cy="42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Abstraction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62542" y="7634583"/>
            <a:ext cx="4978298" cy="145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Focus on essential features by hiding complex implementation details, simplifying interaction.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6451844" y="3958828"/>
            <a:ext cx="5384302" cy="5384302"/>
          </a:xfrm>
          <a:custGeom>
            <a:avLst/>
            <a:gdLst/>
            <a:ahLst/>
            <a:cxnLst/>
            <a:rect r="r" b="b" t="t" l="l"/>
            <a:pathLst>
              <a:path h="5384302" w="5384302">
                <a:moveTo>
                  <a:pt x="0" y="0"/>
                </a:moveTo>
                <a:lnTo>
                  <a:pt x="5384302" y="0"/>
                </a:lnTo>
                <a:lnTo>
                  <a:pt x="5384302" y="5384302"/>
                </a:lnTo>
                <a:lnTo>
                  <a:pt x="0" y="5384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 descr="preencoded.png"/>
          <p:cNvSpPr/>
          <p:nvPr/>
        </p:nvSpPr>
        <p:spPr>
          <a:xfrm flipH="false" flipV="false" rot="0">
            <a:off x="10014871" y="7979940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4444" t="0" r="-14444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81288" y="7340203"/>
            <a:ext cx="3344170" cy="42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Constructor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159" y="7852467"/>
            <a:ext cx="4978298" cy="101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__init__ method automatically initialises an object's state upon creation.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6451844" y="3958828"/>
            <a:ext cx="5384302" cy="5384302"/>
          </a:xfrm>
          <a:custGeom>
            <a:avLst/>
            <a:gdLst/>
            <a:ahLst/>
            <a:cxnLst/>
            <a:rect r="r" b="b" t="t" l="l"/>
            <a:pathLst>
              <a:path h="5384302" w="5384302">
                <a:moveTo>
                  <a:pt x="0" y="0"/>
                </a:moveTo>
                <a:lnTo>
                  <a:pt x="5384302" y="0"/>
                </a:lnTo>
                <a:lnTo>
                  <a:pt x="5384302" y="5384302"/>
                </a:lnTo>
                <a:lnTo>
                  <a:pt x="0" y="538430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 descr="preencoded.png"/>
          <p:cNvSpPr/>
          <p:nvPr/>
        </p:nvSpPr>
        <p:spPr>
          <a:xfrm flipH="false" flipV="false" rot="0">
            <a:off x="7389543" y="7521702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2453441" y="1155741"/>
            <a:ext cx="14422129" cy="7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Data Structures: Efficient Data Organisation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0923" y="2944854"/>
            <a:ext cx="9447609" cy="84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structures define how data is stored and organised to facilitate efficient access and modification.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60445" y="4062108"/>
            <a:ext cx="28575" cy="4811020"/>
            <a:chOff x="0" y="0"/>
            <a:chExt cx="38100" cy="64146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" cy="6414643"/>
            </a:xfrm>
            <a:custGeom>
              <a:avLst/>
              <a:gdLst/>
              <a:ahLst/>
              <a:cxnLst/>
              <a:rect r="r" b="b" t="t" l="l"/>
              <a:pathLst>
                <a:path h="6414643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395593"/>
                  </a:lnTo>
                  <a:cubicBezTo>
                    <a:pt x="38100" y="6406134"/>
                    <a:pt x="29591" y="6414643"/>
                    <a:pt x="19050" y="6414643"/>
                  </a:cubicBezTo>
                  <a:cubicBezTo>
                    <a:pt x="8509" y="6414643"/>
                    <a:pt x="0" y="6406134"/>
                    <a:pt x="0" y="6395593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262115" y="4075509"/>
            <a:ext cx="481460" cy="28575"/>
            <a:chOff x="0" y="0"/>
            <a:chExt cx="641947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1985" cy="38100"/>
            </a:xfrm>
            <a:custGeom>
              <a:avLst/>
              <a:gdLst/>
              <a:ahLst/>
              <a:cxnLst/>
              <a:rect r="r" b="b" t="t" l="l"/>
              <a:pathLst>
                <a:path h="38100" w="6419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22935" y="0"/>
                  </a:lnTo>
                  <a:cubicBezTo>
                    <a:pt x="633476" y="0"/>
                    <a:pt x="641985" y="8509"/>
                    <a:pt x="641985" y="19050"/>
                  </a:cubicBezTo>
                  <a:cubicBezTo>
                    <a:pt x="641985" y="29591"/>
                    <a:pt x="633476" y="38100"/>
                    <a:pt x="62293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284464" y="4242559"/>
            <a:ext cx="180527" cy="180527"/>
            <a:chOff x="0" y="0"/>
            <a:chExt cx="240703" cy="2407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0792" cy="240792"/>
            </a:xfrm>
            <a:custGeom>
              <a:avLst/>
              <a:gdLst/>
              <a:ahLst/>
              <a:cxnLst/>
              <a:rect r="r" b="b" t="t" l="l"/>
              <a:pathLst>
                <a:path h="240792" w="240792">
                  <a:moveTo>
                    <a:pt x="0" y="120396"/>
                  </a:moveTo>
                  <a:cubicBezTo>
                    <a:pt x="0" y="53848"/>
                    <a:pt x="53848" y="0"/>
                    <a:pt x="120396" y="0"/>
                  </a:cubicBezTo>
                  <a:cubicBezTo>
                    <a:pt x="186944" y="0"/>
                    <a:pt x="240792" y="53848"/>
                    <a:pt x="240792" y="120396"/>
                  </a:cubicBezTo>
                  <a:cubicBezTo>
                    <a:pt x="240792" y="186944"/>
                    <a:pt x="186944" y="240792"/>
                    <a:pt x="120396" y="240792"/>
                  </a:cubicBezTo>
                  <a:cubicBezTo>
                    <a:pt x="53848" y="240792"/>
                    <a:pt x="0" y="186817"/>
                    <a:pt x="0" y="120396"/>
                  </a:cubicBezTo>
                  <a:close/>
                </a:path>
              </a:pathLst>
            </a:custGeom>
            <a:solidFill>
              <a:srgbClr val="BE49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579610" y="4135336"/>
            <a:ext cx="2832202" cy="36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Definition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50923" y="4566933"/>
            <a:ext cx="3760889" cy="1231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ways to store and manage data for optimal performance in various operations.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86425" y="5519890"/>
            <a:ext cx="481460" cy="28575"/>
            <a:chOff x="0" y="0"/>
            <a:chExt cx="641947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1985" cy="38100"/>
            </a:xfrm>
            <a:custGeom>
              <a:avLst/>
              <a:gdLst/>
              <a:ahLst/>
              <a:cxnLst/>
              <a:rect r="r" b="b" t="t" l="l"/>
              <a:pathLst>
                <a:path h="38100" w="6419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22935" y="0"/>
                  </a:lnTo>
                  <a:cubicBezTo>
                    <a:pt x="633476" y="0"/>
                    <a:pt x="641985" y="8509"/>
                    <a:pt x="641985" y="19050"/>
                  </a:cubicBezTo>
                  <a:cubicBezTo>
                    <a:pt x="641985" y="29591"/>
                    <a:pt x="633476" y="38100"/>
                    <a:pt x="62293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284464" y="5686939"/>
            <a:ext cx="180527" cy="180527"/>
            <a:chOff x="0" y="0"/>
            <a:chExt cx="240703" cy="240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0792" cy="240792"/>
            </a:xfrm>
            <a:custGeom>
              <a:avLst/>
              <a:gdLst/>
              <a:ahLst/>
              <a:cxnLst/>
              <a:rect r="r" b="b" t="t" l="l"/>
              <a:pathLst>
                <a:path h="240792" w="240792">
                  <a:moveTo>
                    <a:pt x="0" y="120396"/>
                  </a:moveTo>
                  <a:cubicBezTo>
                    <a:pt x="0" y="53848"/>
                    <a:pt x="53848" y="0"/>
                    <a:pt x="120396" y="0"/>
                  </a:cubicBezTo>
                  <a:cubicBezTo>
                    <a:pt x="186944" y="0"/>
                    <a:pt x="240792" y="53848"/>
                    <a:pt x="240792" y="120396"/>
                  </a:cubicBezTo>
                  <a:cubicBezTo>
                    <a:pt x="240792" y="186944"/>
                    <a:pt x="186944" y="240792"/>
                    <a:pt x="120396" y="240792"/>
                  </a:cubicBezTo>
                  <a:cubicBezTo>
                    <a:pt x="53848" y="240792"/>
                    <a:pt x="0" y="186817"/>
                    <a:pt x="0" y="120396"/>
                  </a:cubicBezTo>
                  <a:close/>
                </a:path>
              </a:pathLst>
            </a:custGeom>
            <a:solidFill>
              <a:srgbClr val="BE49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337653" y="5579707"/>
            <a:ext cx="3445821" cy="36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ADT (Abstract Data Type)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37653" y="6011313"/>
            <a:ext cx="3760889" cy="1231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logical model specifying the data and operations, independent of concrete implementation details.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62115" y="6764836"/>
            <a:ext cx="481460" cy="28575"/>
            <a:chOff x="0" y="0"/>
            <a:chExt cx="641947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1985" cy="38100"/>
            </a:xfrm>
            <a:custGeom>
              <a:avLst/>
              <a:gdLst/>
              <a:ahLst/>
              <a:cxnLst/>
              <a:rect r="r" b="b" t="t" l="l"/>
              <a:pathLst>
                <a:path h="38100" w="6419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22935" y="0"/>
                  </a:lnTo>
                  <a:cubicBezTo>
                    <a:pt x="633476" y="0"/>
                    <a:pt x="641985" y="8509"/>
                    <a:pt x="641985" y="19050"/>
                  </a:cubicBezTo>
                  <a:cubicBezTo>
                    <a:pt x="641985" y="29591"/>
                    <a:pt x="633476" y="38100"/>
                    <a:pt x="62293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6BA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284464" y="6931885"/>
            <a:ext cx="180527" cy="180527"/>
            <a:chOff x="0" y="0"/>
            <a:chExt cx="240703" cy="2407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0792" cy="240792"/>
            </a:xfrm>
            <a:custGeom>
              <a:avLst/>
              <a:gdLst/>
              <a:ahLst/>
              <a:cxnLst/>
              <a:rect r="r" b="b" t="t" l="l"/>
              <a:pathLst>
                <a:path h="240792" w="240792">
                  <a:moveTo>
                    <a:pt x="0" y="120396"/>
                  </a:moveTo>
                  <a:cubicBezTo>
                    <a:pt x="0" y="53848"/>
                    <a:pt x="53848" y="0"/>
                    <a:pt x="120396" y="0"/>
                  </a:cubicBezTo>
                  <a:cubicBezTo>
                    <a:pt x="186944" y="0"/>
                    <a:pt x="240792" y="53848"/>
                    <a:pt x="240792" y="120396"/>
                  </a:cubicBezTo>
                  <a:cubicBezTo>
                    <a:pt x="240792" y="186944"/>
                    <a:pt x="186944" y="240792"/>
                    <a:pt x="120396" y="240792"/>
                  </a:cubicBezTo>
                  <a:cubicBezTo>
                    <a:pt x="53848" y="240792"/>
                    <a:pt x="0" y="186817"/>
                    <a:pt x="0" y="120396"/>
                  </a:cubicBezTo>
                  <a:close/>
                </a:path>
              </a:pathLst>
            </a:custGeom>
            <a:solidFill>
              <a:srgbClr val="BE49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5084758" y="6824653"/>
            <a:ext cx="3327054" cy="36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Algorithm &amp; Complexity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50923" y="7256259"/>
            <a:ext cx="3760889" cy="161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step-by-step procedure to solve a problem, with its efficiency measured by </a:t>
            </a:r>
            <a:r>
              <a:rPr lang="en-US" sz="187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 Complexity</a:t>
            </a: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(Big O notation) and </a:t>
            </a:r>
            <a:r>
              <a:rPr lang="en-US" sz="1874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Space Complexity</a:t>
            </a: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13413" y="8796928"/>
            <a:ext cx="9447609" cy="46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Understanding data structures is fundamental for writing efficient and scalable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DAG7xnWBYlE</dc:identifier>
  <dcterms:modified xsi:type="dcterms:W3CDTF">2011-08-01T06:04:30Z</dcterms:modified>
  <cp:revision>1</cp:revision>
  <dc:title>Python-Programming-and-Data-Structures.pptx</dc:title>
</cp:coreProperties>
</file>